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8" r:id="rId3"/>
    <p:sldId id="270" r:id="rId4"/>
    <p:sldId id="271" r:id="rId5"/>
    <p:sldId id="272" r:id="rId6"/>
    <p:sldId id="273" r:id="rId7"/>
    <p:sldId id="274" r:id="rId8"/>
    <p:sldId id="275" r:id="rId9"/>
    <p:sldId id="276" r:id="rId10"/>
    <p:sldId id="27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78" d="100"/>
          <a:sy n="78" d="100"/>
        </p:scale>
        <p:origin x="88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CDA97-1EE4-47C8-BF13-A7B4240B34C2}"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17BFB-2D06-4CCA-8905-98ECCAF0966C}" type="slidenum">
              <a:rPr lang="en-US" smtClean="0"/>
              <a:t>‹#›</a:t>
            </a:fld>
            <a:endParaRPr lang="en-US"/>
          </a:p>
        </p:txBody>
      </p:sp>
    </p:spTree>
    <p:extLst>
      <p:ext uri="{BB962C8B-B14F-4D97-AF65-F5344CB8AC3E}">
        <p14:creationId xmlns:p14="http://schemas.microsoft.com/office/powerpoint/2010/main" val="3310973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9E17BFB-2D06-4CCA-8905-98ECCAF0966C}" type="slidenum">
              <a:rPr lang="en-US" smtClean="0"/>
              <a:t>2</a:t>
            </a:fld>
            <a:endParaRPr lang="en-US"/>
          </a:p>
        </p:txBody>
      </p:sp>
    </p:spTree>
    <p:extLst>
      <p:ext uri="{BB962C8B-B14F-4D97-AF65-F5344CB8AC3E}">
        <p14:creationId xmlns:p14="http://schemas.microsoft.com/office/powerpoint/2010/main" val="1615590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9E17BFB-2D06-4CCA-8905-98ECCAF0966C}" type="slidenum">
              <a:rPr lang="en-US" smtClean="0"/>
              <a:t>10</a:t>
            </a:fld>
            <a:endParaRPr lang="en-US"/>
          </a:p>
        </p:txBody>
      </p:sp>
    </p:spTree>
    <p:extLst>
      <p:ext uri="{BB962C8B-B14F-4D97-AF65-F5344CB8AC3E}">
        <p14:creationId xmlns:p14="http://schemas.microsoft.com/office/powerpoint/2010/main" val="3952317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D7BE-C505-47E7-C061-BC59BA4095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ED224C-0C3D-7B5A-61BB-F1C7789307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56D3AC4-8698-3D2C-134D-5070006E768A}"/>
              </a:ext>
            </a:extLst>
          </p:cNvPr>
          <p:cNvSpPr>
            <a:spLocks noGrp="1"/>
          </p:cNvSpPr>
          <p:nvPr>
            <p:ph type="dt" sz="half" idx="10"/>
          </p:nvPr>
        </p:nvSpPr>
        <p:spPr/>
        <p:txBody>
          <a:bodyPr/>
          <a:lstStyle/>
          <a:p>
            <a:fld id="{8E5F2201-BA66-483D-A9BC-C01EB95322DC}" type="datetime1">
              <a:rPr lang="en-IN" smtClean="0"/>
              <a:t>12-02-2026</a:t>
            </a:fld>
            <a:endParaRPr lang="en-IN"/>
          </a:p>
        </p:txBody>
      </p:sp>
      <p:sp>
        <p:nvSpPr>
          <p:cNvPr id="5" name="Footer Placeholder 4">
            <a:extLst>
              <a:ext uri="{FF2B5EF4-FFF2-40B4-BE49-F238E27FC236}">
                <a16:creationId xmlns:a16="http://schemas.microsoft.com/office/drawing/2014/main" id="{3A260778-D988-2E50-71A8-6F9394952500}"/>
              </a:ext>
            </a:extLst>
          </p:cNvPr>
          <p:cNvSpPr>
            <a:spLocks noGrp="1"/>
          </p:cNvSpPr>
          <p:nvPr>
            <p:ph type="ftr" sz="quarter" idx="11"/>
          </p:nvPr>
        </p:nvSpPr>
        <p:spPr/>
        <p:txBody>
          <a:bodyPr/>
          <a:lstStyle/>
          <a:p>
            <a:r>
              <a:rPr lang="en-IN"/>
              <a:t>ICCSC-2024</a:t>
            </a:r>
          </a:p>
        </p:txBody>
      </p:sp>
      <p:sp>
        <p:nvSpPr>
          <p:cNvPr id="6" name="Slide Number Placeholder 5">
            <a:extLst>
              <a:ext uri="{FF2B5EF4-FFF2-40B4-BE49-F238E27FC236}">
                <a16:creationId xmlns:a16="http://schemas.microsoft.com/office/drawing/2014/main" id="{20103AF0-22FA-8C9B-41E9-5F53DACB1C38}"/>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314154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9FE7-CC01-A76B-4158-1DEBF09956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68560C-0201-53FF-1C5B-426E613B43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54560D-2EDF-00F8-7EFE-A1562CB9FB0C}"/>
              </a:ext>
            </a:extLst>
          </p:cNvPr>
          <p:cNvSpPr>
            <a:spLocks noGrp="1"/>
          </p:cNvSpPr>
          <p:nvPr>
            <p:ph type="dt" sz="half" idx="10"/>
          </p:nvPr>
        </p:nvSpPr>
        <p:spPr/>
        <p:txBody>
          <a:bodyPr/>
          <a:lstStyle/>
          <a:p>
            <a:fld id="{F8A19A3C-698F-42F2-9409-3759E6B3C430}" type="datetime1">
              <a:rPr lang="en-IN" smtClean="0"/>
              <a:t>12-02-2026</a:t>
            </a:fld>
            <a:endParaRPr lang="en-IN"/>
          </a:p>
        </p:txBody>
      </p:sp>
      <p:sp>
        <p:nvSpPr>
          <p:cNvPr id="5" name="Footer Placeholder 4">
            <a:extLst>
              <a:ext uri="{FF2B5EF4-FFF2-40B4-BE49-F238E27FC236}">
                <a16:creationId xmlns:a16="http://schemas.microsoft.com/office/drawing/2014/main" id="{02CF03C1-0487-4CC0-E692-E01B2089EBFB}"/>
              </a:ext>
            </a:extLst>
          </p:cNvPr>
          <p:cNvSpPr>
            <a:spLocks noGrp="1"/>
          </p:cNvSpPr>
          <p:nvPr>
            <p:ph type="ftr" sz="quarter" idx="11"/>
          </p:nvPr>
        </p:nvSpPr>
        <p:spPr/>
        <p:txBody>
          <a:bodyPr/>
          <a:lstStyle/>
          <a:p>
            <a:r>
              <a:rPr lang="en-IN"/>
              <a:t>ICCSC-2024</a:t>
            </a:r>
          </a:p>
        </p:txBody>
      </p:sp>
      <p:sp>
        <p:nvSpPr>
          <p:cNvPr id="6" name="Slide Number Placeholder 5">
            <a:extLst>
              <a:ext uri="{FF2B5EF4-FFF2-40B4-BE49-F238E27FC236}">
                <a16:creationId xmlns:a16="http://schemas.microsoft.com/office/drawing/2014/main" id="{29AD48EE-0288-4C3F-FC60-FD9AE768A0E8}"/>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4077003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0E81-DDEE-5310-CF31-B7DD2D1B16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A668D6B-A3AA-7844-28A1-91DF8090D2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44933-2FB2-5E6E-B4D8-DF038516C533}"/>
              </a:ext>
            </a:extLst>
          </p:cNvPr>
          <p:cNvSpPr>
            <a:spLocks noGrp="1"/>
          </p:cNvSpPr>
          <p:nvPr>
            <p:ph type="dt" sz="half" idx="10"/>
          </p:nvPr>
        </p:nvSpPr>
        <p:spPr/>
        <p:txBody>
          <a:bodyPr/>
          <a:lstStyle/>
          <a:p>
            <a:fld id="{483A6204-DE29-45D2-8E2F-5937C75E608A}" type="datetime1">
              <a:rPr lang="en-IN" smtClean="0"/>
              <a:t>12-02-2026</a:t>
            </a:fld>
            <a:endParaRPr lang="en-IN"/>
          </a:p>
        </p:txBody>
      </p:sp>
      <p:sp>
        <p:nvSpPr>
          <p:cNvPr id="5" name="Footer Placeholder 4">
            <a:extLst>
              <a:ext uri="{FF2B5EF4-FFF2-40B4-BE49-F238E27FC236}">
                <a16:creationId xmlns:a16="http://schemas.microsoft.com/office/drawing/2014/main" id="{F07F4542-F11F-3A1F-C8DE-F84C99EB946A}"/>
              </a:ext>
            </a:extLst>
          </p:cNvPr>
          <p:cNvSpPr>
            <a:spLocks noGrp="1"/>
          </p:cNvSpPr>
          <p:nvPr>
            <p:ph type="ftr" sz="quarter" idx="11"/>
          </p:nvPr>
        </p:nvSpPr>
        <p:spPr/>
        <p:txBody>
          <a:bodyPr/>
          <a:lstStyle/>
          <a:p>
            <a:r>
              <a:rPr lang="en-IN"/>
              <a:t>ICCSC-2024</a:t>
            </a:r>
          </a:p>
        </p:txBody>
      </p:sp>
      <p:sp>
        <p:nvSpPr>
          <p:cNvPr id="6" name="Slide Number Placeholder 5">
            <a:extLst>
              <a:ext uri="{FF2B5EF4-FFF2-40B4-BE49-F238E27FC236}">
                <a16:creationId xmlns:a16="http://schemas.microsoft.com/office/drawing/2014/main" id="{30BD4EF2-0218-DDEE-254A-7762105D1656}"/>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3026636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713C2-03F0-EBC6-032F-E4B2A1F19B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B92F9B-AA70-D8BD-2369-1C4749561D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4E5162-73CD-8EE0-6006-A53DA5E6F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174736-B894-9EE8-AB9F-2699F32E391D}"/>
              </a:ext>
            </a:extLst>
          </p:cNvPr>
          <p:cNvSpPr>
            <a:spLocks noGrp="1"/>
          </p:cNvSpPr>
          <p:nvPr>
            <p:ph type="dt" sz="half" idx="10"/>
          </p:nvPr>
        </p:nvSpPr>
        <p:spPr/>
        <p:txBody>
          <a:bodyPr/>
          <a:lstStyle/>
          <a:p>
            <a:fld id="{4E165D2E-132B-4DB7-8654-096BFAEF1423}" type="datetime1">
              <a:rPr lang="en-IN" smtClean="0"/>
              <a:t>12-02-2026</a:t>
            </a:fld>
            <a:endParaRPr lang="en-IN"/>
          </a:p>
        </p:txBody>
      </p:sp>
      <p:sp>
        <p:nvSpPr>
          <p:cNvPr id="6" name="Footer Placeholder 5">
            <a:extLst>
              <a:ext uri="{FF2B5EF4-FFF2-40B4-BE49-F238E27FC236}">
                <a16:creationId xmlns:a16="http://schemas.microsoft.com/office/drawing/2014/main" id="{F5A89902-2971-BF4D-16A9-6FC88EE521DE}"/>
              </a:ext>
            </a:extLst>
          </p:cNvPr>
          <p:cNvSpPr>
            <a:spLocks noGrp="1"/>
          </p:cNvSpPr>
          <p:nvPr>
            <p:ph type="ftr" sz="quarter" idx="11"/>
          </p:nvPr>
        </p:nvSpPr>
        <p:spPr/>
        <p:txBody>
          <a:bodyPr/>
          <a:lstStyle/>
          <a:p>
            <a:r>
              <a:rPr lang="en-IN"/>
              <a:t>ICCSC-2024</a:t>
            </a:r>
          </a:p>
        </p:txBody>
      </p:sp>
      <p:sp>
        <p:nvSpPr>
          <p:cNvPr id="7" name="Slide Number Placeholder 6">
            <a:extLst>
              <a:ext uri="{FF2B5EF4-FFF2-40B4-BE49-F238E27FC236}">
                <a16:creationId xmlns:a16="http://schemas.microsoft.com/office/drawing/2014/main" id="{224D7865-0A13-DA77-1839-00E0D9A2A294}"/>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2959077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2FA5-7509-CD85-7FAE-D000ABFFB0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A1F37E-05A3-1748-E94A-604957F2AD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CA28AE-7170-3867-8A38-A0B6F08932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AC8726-4F20-8F4E-F2F7-813A2E75B4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D10548-D884-E65E-3033-113BBA04F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835DC3-B4BC-C80B-43CC-5C8586A1AFA6}"/>
              </a:ext>
            </a:extLst>
          </p:cNvPr>
          <p:cNvSpPr>
            <a:spLocks noGrp="1"/>
          </p:cNvSpPr>
          <p:nvPr>
            <p:ph type="dt" sz="half" idx="10"/>
          </p:nvPr>
        </p:nvSpPr>
        <p:spPr/>
        <p:txBody>
          <a:bodyPr/>
          <a:lstStyle/>
          <a:p>
            <a:fld id="{A9DC3FA5-8E62-4957-AEC2-FD73DC803722}" type="datetime1">
              <a:rPr lang="en-IN" smtClean="0"/>
              <a:t>12-02-2026</a:t>
            </a:fld>
            <a:endParaRPr lang="en-IN"/>
          </a:p>
        </p:txBody>
      </p:sp>
      <p:sp>
        <p:nvSpPr>
          <p:cNvPr id="8" name="Footer Placeholder 7">
            <a:extLst>
              <a:ext uri="{FF2B5EF4-FFF2-40B4-BE49-F238E27FC236}">
                <a16:creationId xmlns:a16="http://schemas.microsoft.com/office/drawing/2014/main" id="{DC457A6A-4B9D-D2C3-DB0B-D8FD7B6B1334}"/>
              </a:ext>
            </a:extLst>
          </p:cNvPr>
          <p:cNvSpPr>
            <a:spLocks noGrp="1"/>
          </p:cNvSpPr>
          <p:nvPr>
            <p:ph type="ftr" sz="quarter" idx="11"/>
          </p:nvPr>
        </p:nvSpPr>
        <p:spPr/>
        <p:txBody>
          <a:bodyPr/>
          <a:lstStyle/>
          <a:p>
            <a:r>
              <a:rPr lang="en-IN"/>
              <a:t>ICCSC-2024</a:t>
            </a:r>
          </a:p>
        </p:txBody>
      </p:sp>
      <p:sp>
        <p:nvSpPr>
          <p:cNvPr id="9" name="Slide Number Placeholder 8">
            <a:extLst>
              <a:ext uri="{FF2B5EF4-FFF2-40B4-BE49-F238E27FC236}">
                <a16:creationId xmlns:a16="http://schemas.microsoft.com/office/drawing/2014/main" id="{21156AD4-1CD0-AC64-63B8-69F378549982}"/>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58425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89BBC-B841-17B2-F7AF-EFFB74923DD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B09F5C-2DF7-C9B3-B478-357B83841846}"/>
              </a:ext>
            </a:extLst>
          </p:cNvPr>
          <p:cNvSpPr>
            <a:spLocks noGrp="1"/>
          </p:cNvSpPr>
          <p:nvPr>
            <p:ph type="dt" sz="half" idx="10"/>
          </p:nvPr>
        </p:nvSpPr>
        <p:spPr/>
        <p:txBody>
          <a:bodyPr/>
          <a:lstStyle/>
          <a:p>
            <a:fld id="{FECA9CAA-292D-43A8-BEC5-C0FFC08777DE}" type="datetime1">
              <a:rPr lang="en-IN" smtClean="0"/>
              <a:t>12-02-2026</a:t>
            </a:fld>
            <a:endParaRPr lang="en-IN"/>
          </a:p>
        </p:txBody>
      </p:sp>
      <p:sp>
        <p:nvSpPr>
          <p:cNvPr id="4" name="Footer Placeholder 3">
            <a:extLst>
              <a:ext uri="{FF2B5EF4-FFF2-40B4-BE49-F238E27FC236}">
                <a16:creationId xmlns:a16="http://schemas.microsoft.com/office/drawing/2014/main" id="{372B7EEA-DF77-FEAD-A6CB-4FE907A2F4BB}"/>
              </a:ext>
            </a:extLst>
          </p:cNvPr>
          <p:cNvSpPr>
            <a:spLocks noGrp="1"/>
          </p:cNvSpPr>
          <p:nvPr>
            <p:ph type="ftr" sz="quarter" idx="11"/>
          </p:nvPr>
        </p:nvSpPr>
        <p:spPr/>
        <p:txBody>
          <a:bodyPr/>
          <a:lstStyle/>
          <a:p>
            <a:r>
              <a:rPr lang="en-IN"/>
              <a:t>ICCSC-2024</a:t>
            </a:r>
          </a:p>
        </p:txBody>
      </p:sp>
      <p:sp>
        <p:nvSpPr>
          <p:cNvPr id="5" name="Slide Number Placeholder 4">
            <a:extLst>
              <a:ext uri="{FF2B5EF4-FFF2-40B4-BE49-F238E27FC236}">
                <a16:creationId xmlns:a16="http://schemas.microsoft.com/office/drawing/2014/main" id="{92A0F8B4-41FA-B6DA-BAD9-93666E41C714}"/>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2627062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2B964B-60FE-644F-E5D5-8A70C262F4D2}"/>
              </a:ext>
            </a:extLst>
          </p:cNvPr>
          <p:cNvSpPr>
            <a:spLocks noGrp="1"/>
          </p:cNvSpPr>
          <p:nvPr>
            <p:ph type="dt" sz="half" idx="10"/>
          </p:nvPr>
        </p:nvSpPr>
        <p:spPr/>
        <p:txBody>
          <a:bodyPr/>
          <a:lstStyle/>
          <a:p>
            <a:fld id="{9285CEF0-8F92-40DE-ABB1-57D896E41AA1}" type="datetime1">
              <a:rPr lang="en-IN" smtClean="0"/>
              <a:t>12-02-2026</a:t>
            </a:fld>
            <a:endParaRPr lang="en-IN"/>
          </a:p>
        </p:txBody>
      </p:sp>
      <p:sp>
        <p:nvSpPr>
          <p:cNvPr id="3" name="Footer Placeholder 2">
            <a:extLst>
              <a:ext uri="{FF2B5EF4-FFF2-40B4-BE49-F238E27FC236}">
                <a16:creationId xmlns:a16="http://schemas.microsoft.com/office/drawing/2014/main" id="{50BBB8DD-A306-1AA6-051F-85B9AD687BDF}"/>
              </a:ext>
            </a:extLst>
          </p:cNvPr>
          <p:cNvSpPr>
            <a:spLocks noGrp="1"/>
          </p:cNvSpPr>
          <p:nvPr>
            <p:ph type="ftr" sz="quarter" idx="11"/>
          </p:nvPr>
        </p:nvSpPr>
        <p:spPr/>
        <p:txBody>
          <a:bodyPr/>
          <a:lstStyle/>
          <a:p>
            <a:r>
              <a:rPr lang="en-IN"/>
              <a:t>ICCSC-2024</a:t>
            </a:r>
          </a:p>
        </p:txBody>
      </p:sp>
      <p:sp>
        <p:nvSpPr>
          <p:cNvPr id="4" name="Slide Number Placeholder 3">
            <a:extLst>
              <a:ext uri="{FF2B5EF4-FFF2-40B4-BE49-F238E27FC236}">
                <a16:creationId xmlns:a16="http://schemas.microsoft.com/office/drawing/2014/main" id="{ECA23606-B22A-C76B-9AEA-0DAD42C7992C}"/>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2890492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7596A-19D5-71DF-5E02-E8A45F27AC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4E905F-3DF1-3418-4727-36D2B3254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A31D22-2BC6-9A03-50D2-EFAC956CED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5C2F91-F0D4-A5EB-44AA-8B5AF8AA8C0C}"/>
              </a:ext>
            </a:extLst>
          </p:cNvPr>
          <p:cNvSpPr>
            <a:spLocks noGrp="1"/>
          </p:cNvSpPr>
          <p:nvPr>
            <p:ph type="dt" sz="half" idx="10"/>
          </p:nvPr>
        </p:nvSpPr>
        <p:spPr/>
        <p:txBody>
          <a:bodyPr/>
          <a:lstStyle/>
          <a:p>
            <a:fld id="{8183D533-3DA4-446F-BBF1-87C6ED48B83F}" type="datetime1">
              <a:rPr lang="en-IN" smtClean="0"/>
              <a:t>12-02-2026</a:t>
            </a:fld>
            <a:endParaRPr lang="en-IN"/>
          </a:p>
        </p:txBody>
      </p:sp>
      <p:sp>
        <p:nvSpPr>
          <p:cNvPr id="6" name="Footer Placeholder 5">
            <a:extLst>
              <a:ext uri="{FF2B5EF4-FFF2-40B4-BE49-F238E27FC236}">
                <a16:creationId xmlns:a16="http://schemas.microsoft.com/office/drawing/2014/main" id="{2232691F-D294-4E51-D7D9-15232B560C72}"/>
              </a:ext>
            </a:extLst>
          </p:cNvPr>
          <p:cNvSpPr>
            <a:spLocks noGrp="1"/>
          </p:cNvSpPr>
          <p:nvPr>
            <p:ph type="ftr" sz="quarter" idx="11"/>
          </p:nvPr>
        </p:nvSpPr>
        <p:spPr/>
        <p:txBody>
          <a:bodyPr/>
          <a:lstStyle/>
          <a:p>
            <a:r>
              <a:rPr lang="en-IN"/>
              <a:t>ICCSC-2024</a:t>
            </a:r>
          </a:p>
        </p:txBody>
      </p:sp>
      <p:sp>
        <p:nvSpPr>
          <p:cNvPr id="7" name="Slide Number Placeholder 6">
            <a:extLst>
              <a:ext uri="{FF2B5EF4-FFF2-40B4-BE49-F238E27FC236}">
                <a16:creationId xmlns:a16="http://schemas.microsoft.com/office/drawing/2014/main" id="{4FA1B1BA-89F3-865A-F9EE-BA0CFE3EE610}"/>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303855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7E5C-6022-8903-A7C1-506AE3F5B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74FBDD-6E49-57C5-BFD3-B0C7634338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6409E9-D740-3F89-EB09-0BAB40E53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F8ADF-91E1-C5DF-51E3-0151BE5872F3}"/>
              </a:ext>
            </a:extLst>
          </p:cNvPr>
          <p:cNvSpPr>
            <a:spLocks noGrp="1"/>
          </p:cNvSpPr>
          <p:nvPr>
            <p:ph type="dt" sz="half" idx="10"/>
          </p:nvPr>
        </p:nvSpPr>
        <p:spPr/>
        <p:txBody>
          <a:bodyPr/>
          <a:lstStyle/>
          <a:p>
            <a:fld id="{C3BDD316-2139-4C52-9180-8F72E35D8EA4}" type="datetime1">
              <a:rPr lang="en-IN" smtClean="0"/>
              <a:t>12-02-2026</a:t>
            </a:fld>
            <a:endParaRPr lang="en-IN"/>
          </a:p>
        </p:txBody>
      </p:sp>
      <p:sp>
        <p:nvSpPr>
          <p:cNvPr id="6" name="Footer Placeholder 5">
            <a:extLst>
              <a:ext uri="{FF2B5EF4-FFF2-40B4-BE49-F238E27FC236}">
                <a16:creationId xmlns:a16="http://schemas.microsoft.com/office/drawing/2014/main" id="{D8921669-1879-8F9F-A551-3113AEDE4994}"/>
              </a:ext>
            </a:extLst>
          </p:cNvPr>
          <p:cNvSpPr>
            <a:spLocks noGrp="1"/>
          </p:cNvSpPr>
          <p:nvPr>
            <p:ph type="ftr" sz="quarter" idx="11"/>
          </p:nvPr>
        </p:nvSpPr>
        <p:spPr/>
        <p:txBody>
          <a:bodyPr/>
          <a:lstStyle/>
          <a:p>
            <a:r>
              <a:rPr lang="en-IN"/>
              <a:t>ICCSC-2024</a:t>
            </a:r>
          </a:p>
        </p:txBody>
      </p:sp>
      <p:sp>
        <p:nvSpPr>
          <p:cNvPr id="7" name="Slide Number Placeholder 6">
            <a:extLst>
              <a:ext uri="{FF2B5EF4-FFF2-40B4-BE49-F238E27FC236}">
                <a16:creationId xmlns:a16="http://schemas.microsoft.com/office/drawing/2014/main" id="{0B5D3504-255D-2D83-32B7-267BF2B01BDF}"/>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153408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2CD3-2608-0745-A02A-D60002374F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CEF670-EE4A-84C3-E969-59EB14AD6A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694909-04AF-70F4-A943-B3A379542C30}"/>
              </a:ext>
            </a:extLst>
          </p:cNvPr>
          <p:cNvSpPr>
            <a:spLocks noGrp="1"/>
          </p:cNvSpPr>
          <p:nvPr>
            <p:ph type="dt" sz="half" idx="10"/>
          </p:nvPr>
        </p:nvSpPr>
        <p:spPr/>
        <p:txBody>
          <a:bodyPr/>
          <a:lstStyle/>
          <a:p>
            <a:fld id="{2E752192-6144-47AF-A249-AF92BBA1E273}" type="datetime1">
              <a:rPr lang="en-IN" smtClean="0"/>
              <a:t>12-02-2026</a:t>
            </a:fld>
            <a:endParaRPr lang="en-IN"/>
          </a:p>
        </p:txBody>
      </p:sp>
      <p:sp>
        <p:nvSpPr>
          <p:cNvPr id="5" name="Footer Placeholder 4">
            <a:extLst>
              <a:ext uri="{FF2B5EF4-FFF2-40B4-BE49-F238E27FC236}">
                <a16:creationId xmlns:a16="http://schemas.microsoft.com/office/drawing/2014/main" id="{CD42CCDC-1323-7301-7FD7-3684CFFBCE4C}"/>
              </a:ext>
            </a:extLst>
          </p:cNvPr>
          <p:cNvSpPr>
            <a:spLocks noGrp="1"/>
          </p:cNvSpPr>
          <p:nvPr>
            <p:ph type="ftr" sz="quarter" idx="11"/>
          </p:nvPr>
        </p:nvSpPr>
        <p:spPr/>
        <p:txBody>
          <a:bodyPr/>
          <a:lstStyle/>
          <a:p>
            <a:r>
              <a:rPr lang="en-IN"/>
              <a:t>ICCSC-2024</a:t>
            </a:r>
          </a:p>
        </p:txBody>
      </p:sp>
      <p:sp>
        <p:nvSpPr>
          <p:cNvPr id="6" name="Slide Number Placeholder 5">
            <a:extLst>
              <a:ext uri="{FF2B5EF4-FFF2-40B4-BE49-F238E27FC236}">
                <a16:creationId xmlns:a16="http://schemas.microsoft.com/office/drawing/2014/main" id="{0190FF7F-CC57-A965-0A81-DD40946B9F28}"/>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985154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386782-C415-A88F-BAFF-8563491CC4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DDD96F-1EF6-066D-4DFB-3732B2F79F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C4DEF9-3FA1-0258-1028-18B8365A6C4C}"/>
              </a:ext>
            </a:extLst>
          </p:cNvPr>
          <p:cNvSpPr>
            <a:spLocks noGrp="1"/>
          </p:cNvSpPr>
          <p:nvPr>
            <p:ph type="dt" sz="half" idx="10"/>
          </p:nvPr>
        </p:nvSpPr>
        <p:spPr/>
        <p:txBody>
          <a:bodyPr/>
          <a:lstStyle/>
          <a:p>
            <a:fld id="{8FF7D475-4889-461E-BB17-3C6A633B8FFF}" type="datetime1">
              <a:rPr lang="en-IN" smtClean="0"/>
              <a:t>12-02-2026</a:t>
            </a:fld>
            <a:endParaRPr lang="en-IN"/>
          </a:p>
        </p:txBody>
      </p:sp>
      <p:sp>
        <p:nvSpPr>
          <p:cNvPr id="5" name="Footer Placeholder 4">
            <a:extLst>
              <a:ext uri="{FF2B5EF4-FFF2-40B4-BE49-F238E27FC236}">
                <a16:creationId xmlns:a16="http://schemas.microsoft.com/office/drawing/2014/main" id="{C295B252-161E-DC3E-E34D-1C9591993B20}"/>
              </a:ext>
            </a:extLst>
          </p:cNvPr>
          <p:cNvSpPr>
            <a:spLocks noGrp="1"/>
          </p:cNvSpPr>
          <p:nvPr>
            <p:ph type="ftr" sz="quarter" idx="11"/>
          </p:nvPr>
        </p:nvSpPr>
        <p:spPr/>
        <p:txBody>
          <a:bodyPr/>
          <a:lstStyle/>
          <a:p>
            <a:r>
              <a:rPr lang="en-IN"/>
              <a:t>ICCSC-2024</a:t>
            </a:r>
          </a:p>
        </p:txBody>
      </p:sp>
      <p:sp>
        <p:nvSpPr>
          <p:cNvPr id="6" name="Slide Number Placeholder 5">
            <a:extLst>
              <a:ext uri="{FF2B5EF4-FFF2-40B4-BE49-F238E27FC236}">
                <a16:creationId xmlns:a16="http://schemas.microsoft.com/office/drawing/2014/main" id="{FD36B868-D470-D245-C120-51E07430D2C3}"/>
              </a:ext>
            </a:extLst>
          </p:cNvPr>
          <p:cNvSpPr>
            <a:spLocks noGrp="1"/>
          </p:cNvSpPr>
          <p:nvPr>
            <p:ph type="sldNum" sz="quarter" idx="12"/>
          </p:nvPr>
        </p:nvSpPr>
        <p:spPr/>
        <p:txBody>
          <a:bodyPr/>
          <a:lstStyle/>
          <a:p>
            <a:fld id="{43519B3A-F281-48CB-834E-59017A58047F}" type="slidenum">
              <a:rPr lang="en-IN" smtClean="0"/>
              <a:t>‹#›</a:t>
            </a:fld>
            <a:endParaRPr lang="en-IN"/>
          </a:p>
        </p:txBody>
      </p:sp>
    </p:spTree>
    <p:extLst>
      <p:ext uri="{BB962C8B-B14F-4D97-AF65-F5344CB8AC3E}">
        <p14:creationId xmlns:p14="http://schemas.microsoft.com/office/powerpoint/2010/main" val="818479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730CC4-FFF0-222B-65C4-1EC44C2DA7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C8F75E-87AF-D6FA-B503-A7FECEB67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38FF06-4794-3424-8CD1-BAA233030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17EB4-91CA-49BF-B919-ADADBCABC4A6}" type="datetime1">
              <a:rPr lang="en-IN" smtClean="0"/>
              <a:t>12-02-2026</a:t>
            </a:fld>
            <a:endParaRPr lang="en-IN"/>
          </a:p>
        </p:txBody>
      </p:sp>
      <p:sp>
        <p:nvSpPr>
          <p:cNvPr id="5" name="Footer Placeholder 4">
            <a:extLst>
              <a:ext uri="{FF2B5EF4-FFF2-40B4-BE49-F238E27FC236}">
                <a16:creationId xmlns:a16="http://schemas.microsoft.com/office/drawing/2014/main" id="{E4928BC4-334F-2100-0389-4C3194589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ICCSC-2024</a:t>
            </a:r>
          </a:p>
        </p:txBody>
      </p:sp>
      <p:sp>
        <p:nvSpPr>
          <p:cNvPr id="6" name="Slide Number Placeholder 5">
            <a:extLst>
              <a:ext uri="{FF2B5EF4-FFF2-40B4-BE49-F238E27FC236}">
                <a16:creationId xmlns:a16="http://schemas.microsoft.com/office/drawing/2014/main" id="{9DF50D78-7E54-1DBB-E2E6-556DFD27D3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519B3A-F281-48CB-834E-59017A58047F}" type="slidenum">
              <a:rPr lang="en-IN" smtClean="0"/>
              <a:t>‹#›</a:t>
            </a:fld>
            <a:endParaRPr lang="en-IN"/>
          </a:p>
        </p:txBody>
      </p:sp>
    </p:spTree>
    <p:extLst>
      <p:ext uri="{BB962C8B-B14F-4D97-AF65-F5344CB8AC3E}">
        <p14:creationId xmlns:p14="http://schemas.microsoft.com/office/powerpoint/2010/main" val="3007593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81190"/>
            <a:ext cx="12192000" cy="2387600"/>
          </a:xfrm>
        </p:spPr>
        <p:txBody>
          <a:bodyPr>
            <a:normAutofit/>
          </a:bodyPr>
          <a:lstStyle/>
          <a:p>
            <a:r>
              <a:rPr lang="en-US" sz="4400" b="1" dirty="0">
                <a:solidFill>
                  <a:srgbClr val="FF0000"/>
                </a:solidFill>
              </a:rPr>
              <a:t>2</a:t>
            </a:r>
            <a:r>
              <a:rPr lang="en-US" sz="4400" b="1" baseline="30000" dirty="0">
                <a:solidFill>
                  <a:srgbClr val="FF0000"/>
                </a:solidFill>
              </a:rPr>
              <a:t>nd</a:t>
            </a:r>
            <a:r>
              <a:rPr lang="en-US" sz="4400" b="1" dirty="0">
                <a:solidFill>
                  <a:srgbClr val="FF0000"/>
                </a:solidFill>
              </a:rPr>
              <a:t> International Conference on Computing, </a:t>
            </a:r>
            <a:br>
              <a:rPr lang="en-US" sz="4400" b="1" dirty="0">
                <a:solidFill>
                  <a:srgbClr val="FF0000"/>
                </a:solidFill>
              </a:rPr>
            </a:br>
            <a:r>
              <a:rPr lang="en-US" sz="4400" b="1" dirty="0">
                <a:solidFill>
                  <a:srgbClr val="FF0000"/>
                </a:solidFill>
              </a:rPr>
              <a:t>Sciences &amp; Communications </a:t>
            </a:r>
            <a:br>
              <a:rPr lang="en-US" sz="4400" b="1" dirty="0">
                <a:solidFill>
                  <a:srgbClr val="FF0000"/>
                </a:solidFill>
              </a:rPr>
            </a:br>
            <a:r>
              <a:rPr lang="en-US" sz="4400" b="1" dirty="0">
                <a:solidFill>
                  <a:srgbClr val="FF0000"/>
                </a:solidFill>
              </a:rPr>
              <a:t>(ICCSC – 2026)</a:t>
            </a:r>
          </a:p>
        </p:txBody>
      </p:sp>
      <p:cxnSp>
        <p:nvCxnSpPr>
          <p:cNvPr id="6" name="Straight Connector 5"/>
          <p:cNvCxnSpPr/>
          <p:nvPr/>
        </p:nvCxnSpPr>
        <p:spPr>
          <a:xfrm flipV="1">
            <a:off x="0" y="3568790"/>
            <a:ext cx="12192000" cy="33248"/>
          </a:xfrm>
          <a:prstGeom prst="line">
            <a:avLst/>
          </a:prstGeom>
          <a:ln w="28575"/>
        </p:spPr>
        <p:style>
          <a:lnRef idx="3">
            <a:schemeClr val="accent1"/>
          </a:lnRef>
          <a:fillRef idx="0">
            <a:schemeClr val="accent1"/>
          </a:fillRef>
          <a:effectRef idx="2">
            <a:schemeClr val="accent1"/>
          </a:effectRef>
          <a:fontRef idx="minor">
            <a:schemeClr val="tx1"/>
          </a:fontRef>
        </p:style>
      </p:cxnSp>
      <p:sp>
        <p:nvSpPr>
          <p:cNvPr id="12" name="TextBox 11"/>
          <p:cNvSpPr txBox="1"/>
          <p:nvPr/>
        </p:nvSpPr>
        <p:spPr>
          <a:xfrm>
            <a:off x="4400550" y="3771900"/>
            <a:ext cx="3286125" cy="707886"/>
          </a:xfrm>
          <a:prstGeom prst="rect">
            <a:avLst/>
          </a:prstGeom>
          <a:solidFill>
            <a:schemeClr val="accent5">
              <a:lumMod val="20000"/>
              <a:lumOff val="80000"/>
            </a:schemeClr>
          </a:solidFill>
        </p:spPr>
        <p:txBody>
          <a:bodyPr wrap="square" rtlCol="0">
            <a:spAutoFit/>
          </a:bodyPr>
          <a:lstStyle/>
          <a:p>
            <a:r>
              <a:rPr lang="en-US" sz="4000" b="1" dirty="0"/>
              <a:t>PAPER ID: 796</a:t>
            </a:r>
          </a:p>
        </p:txBody>
      </p:sp>
      <p:sp>
        <p:nvSpPr>
          <p:cNvPr id="14" name="TextBox 13"/>
          <p:cNvSpPr txBox="1"/>
          <p:nvPr/>
        </p:nvSpPr>
        <p:spPr>
          <a:xfrm>
            <a:off x="1757364" y="4500552"/>
            <a:ext cx="8501062" cy="2000548"/>
          </a:xfrm>
          <a:prstGeom prst="rect">
            <a:avLst/>
          </a:prstGeom>
          <a:noFill/>
        </p:spPr>
        <p:txBody>
          <a:bodyPr wrap="square" rtlCol="0">
            <a:spAutoFit/>
          </a:bodyPr>
          <a:lstStyle/>
          <a:p>
            <a:pPr algn="ctr"/>
            <a:r>
              <a:rPr lang="en-US" sz="2800" b="1" dirty="0"/>
              <a:t>PAPER TITLE: </a:t>
            </a:r>
            <a:r>
              <a:rPr lang="en-US" sz="2800" dirty="0" err="1"/>
              <a:t>PosePerfect</a:t>
            </a:r>
            <a:r>
              <a:rPr lang="en-US" sz="2800" dirty="0"/>
              <a:t>: Real-Time Yoga Pose Recognition and Posture Quality Assessment</a:t>
            </a:r>
            <a:endParaRPr lang="en-US" sz="2800" b="1" dirty="0"/>
          </a:p>
          <a:p>
            <a:pPr algn="ctr"/>
            <a:r>
              <a:rPr lang="en-US" sz="2400" b="1" dirty="0"/>
              <a:t>Authors: </a:t>
            </a:r>
            <a:r>
              <a:rPr lang="en-US" sz="2400" b="1" dirty="0" err="1"/>
              <a:t>Mr</a:t>
            </a:r>
            <a:r>
              <a:rPr lang="en-US" sz="2400" b="1" dirty="0"/>
              <a:t> Harsh, </a:t>
            </a:r>
            <a:r>
              <a:rPr lang="en-US" sz="2400" b="1" dirty="0" err="1"/>
              <a:t>Mr</a:t>
            </a:r>
            <a:r>
              <a:rPr lang="en-US" sz="2400" b="1" dirty="0"/>
              <a:t> Harsh Sagar, </a:t>
            </a:r>
            <a:r>
              <a:rPr lang="en-US" sz="2400" b="1" dirty="0" err="1"/>
              <a:t>Mr</a:t>
            </a:r>
            <a:r>
              <a:rPr lang="en-US" sz="2400" b="1" dirty="0"/>
              <a:t> Naveen Agrahari,             </a:t>
            </a:r>
            <a:r>
              <a:rPr lang="en-US" sz="2400" b="1" dirty="0" err="1"/>
              <a:t>Mr</a:t>
            </a:r>
            <a:r>
              <a:rPr lang="en-US" sz="2400" b="1" dirty="0"/>
              <a:t> Bharat, </a:t>
            </a:r>
            <a:r>
              <a:rPr lang="en-US" sz="2400" b="1" dirty="0" err="1"/>
              <a:t>Mr</a:t>
            </a:r>
            <a:r>
              <a:rPr lang="en-US" sz="2400" b="1" dirty="0"/>
              <a:t> Bhuvnesh Malik</a:t>
            </a:r>
            <a:endParaRPr lang="en-US" sz="2800" b="1" dirty="0"/>
          </a:p>
          <a:p>
            <a:pPr algn="ctr"/>
            <a:r>
              <a:rPr lang="en-US" sz="2000" b="1" dirty="0"/>
              <a:t>Presenter: </a:t>
            </a:r>
            <a:r>
              <a:rPr lang="en-US" sz="2000" b="1" dirty="0" err="1"/>
              <a:t>Mr</a:t>
            </a:r>
            <a:r>
              <a:rPr lang="en-US" sz="2000" b="1" dirty="0"/>
              <a:t> Harsh</a:t>
            </a:r>
          </a:p>
        </p:txBody>
      </p:sp>
      <p:pic>
        <p:nvPicPr>
          <p:cNvPr id="4" name="Picture 3"/>
          <p:cNvPicPr>
            <a:picLocks noChangeAspect="1"/>
          </p:cNvPicPr>
          <p:nvPr/>
        </p:nvPicPr>
        <p:blipFill>
          <a:blip r:embed="rId2"/>
          <a:stretch>
            <a:fillRect/>
          </a:stretch>
        </p:blipFill>
        <p:spPr>
          <a:xfrm>
            <a:off x="296210" y="28576"/>
            <a:ext cx="11423370" cy="1685925"/>
          </a:xfrm>
          <a:prstGeom prst="rect">
            <a:avLst/>
          </a:prstGeom>
        </p:spPr>
      </p:pic>
    </p:spTree>
    <p:extLst>
      <p:ext uri="{BB962C8B-B14F-4D97-AF65-F5344CB8AC3E}">
        <p14:creationId xmlns:p14="http://schemas.microsoft.com/office/powerpoint/2010/main" val="3953897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sz="1200" b="1" dirty="0">
              <a:latin typeface="Times New Roman" panose="02020603050405020304" pitchFamily="18" charset="0"/>
              <a:cs typeface="Times New Roman" panose="02020603050405020304" pitchFamily="18" charset="0"/>
            </a:endParaRPr>
          </a:p>
        </p:txBody>
      </p:sp>
      <p:sp>
        <p:nvSpPr>
          <p:cNvPr id="9" name="Date Placeholder 8"/>
          <p:cNvSpPr>
            <a:spLocks noGrp="1"/>
          </p:cNvSpPr>
          <p:nvPr>
            <p:ph type="dt" sz="half" idx="10"/>
          </p:nvPr>
        </p:nvSpPr>
        <p:spPr/>
        <p:txBody>
          <a:bodyPr/>
          <a:lstStyle/>
          <a:p>
            <a:r>
              <a:rPr lang="en-IN" dirty="0"/>
              <a:t>12-13 Feb 2026</a:t>
            </a:r>
          </a:p>
        </p:txBody>
      </p:sp>
      <p:sp>
        <p:nvSpPr>
          <p:cNvPr id="10" name="Footer Placeholder 9"/>
          <p:cNvSpPr>
            <a:spLocks noGrp="1"/>
          </p:cNvSpPr>
          <p:nvPr>
            <p:ph type="ftr" sz="quarter" idx="11"/>
          </p:nvPr>
        </p:nvSpPr>
        <p:spPr/>
        <p:txBody>
          <a:bodyPr/>
          <a:lstStyle/>
          <a:p>
            <a:r>
              <a:rPr lang="en-IN" dirty="0"/>
              <a:t>ICCSC-2026</a:t>
            </a:r>
          </a:p>
        </p:txBody>
      </p:sp>
      <p:sp>
        <p:nvSpPr>
          <p:cNvPr id="11" name="Slide Number Placeholder 10"/>
          <p:cNvSpPr>
            <a:spLocks noGrp="1"/>
          </p:cNvSpPr>
          <p:nvPr>
            <p:ph type="sldNum" sz="quarter" idx="12"/>
          </p:nvPr>
        </p:nvSpPr>
        <p:spPr/>
        <p:txBody>
          <a:bodyPr/>
          <a:lstStyle/>
          <a:p>
            <a:fld id="{43519B3A-F281-48CB-834E-59017A58047F}" type="slidenum">
              <a:rPr lang="en-IN" smtClean="0"/>
              <a:t>2</a:t>
            </a:fld>
            <a:endParaRPr lang="en-IN"/>
          </a:p>
        </p:txBody>
      </p:sp>
      <p:pic>
        <p:nvPicPr>
          <p:cNvPr id="3" name="Picture 2"/>
          <p:cNvPicPr>
            <a:picLocks noChangeAspect="1"/>
          </p:cNvPicPr>
          <p:nvPr/>
        </p:nvPicPr>
        <p:blipFill>
          <a:blip r:embed="rId3"/>
          <a:stretch>
            <a:fillRect/>
          </a:stretch>
        </p:blipFill>
        <p:spPr>
          <a:xfrm>
            <a:off x="11373315" y="6120614"/>
            <a:ext cx="785350" cy="706046"/>
          </a:xfrm>
          <a:prstGeom prst="rect">
            <a:avLst/>
          </a:prstGeom>
        </p:spPr>
      </p:pic>
      <p:sp>
        <p:nvSpPr>
          <p:cNvPr id="4" name="Rectangle 2">
            <a:extLst>
              <a:ext uri="{FF2B5EF4-FFF2-40B4-BE49-F238E27FC236}">
                <a16:creationId xmlns:a16="http://schemas.microsoft.com/office/drawing/2014/main" id="{CC7A5870-D2F1-3A74-8018-0625D638359E}"/>
              </a:ext>
            </a:extLst>
          </p:cNvPr>
          <p:cNvSpPr>
            <a:spLocks noGrp="1" noChangeArrowheads="1"/>
          </p:cNvSpPr>
          <p:nvPr>
            <p:ph idx="1"/>
          </p:nvPr>
        </p:nvSpPr>
        <p:spPr bwMode="auto">
          <a:xfrm>
            <a:off x="838200" y="2016137"/>
            <a:ext cx="1130668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Yoga improves physical and mental well-being when performed with</a:t>
            </a:r>
            <a:endParaRPr lang="en-US" altLang="en-US" dirty="0">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correct posture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Incorrect alignment can reduce benefits and increase injury risk</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Growth of online and home-based yoga practices lacks expert </a:t>
            </a:r>
          </a:p>
          <a:p>
            <a:pPr marL="0" marR="0" lvl="0" indent="0"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supervision</a:t>
            </a:r>
          </a:p>
          <a:p>
            <a:pPr lvl="0" eaLnBrk="0" fontAlgn="base" hangingPunct="0">
              <a:lnSpc>
                <a:spcPct val="100000"/>
              </a:lnSpc>
              <a:spcBef>
                <a:spcPct val="0"/>
              </a:spcBef>
              <a:spcAft>
                <a:spcPct val="0"/>
              </a:spcAft>
            </a:pPr>
            <a:r>
              <a:rPr lang="en-US" dirty="0"/>
              <a:t>This work evaluates multiple classification strategies to identify an </a:t>
            </a:r>
          </a:p>
          <a:p>
            <a:pPr marL="0" lvl="0" indent="0" eaLnBrk="0" fontAlgn="base" hangingPunct="0">
              <a:lnSpc>
                <a:spcPct val="100000"/>
              </a:lnSpc>
              <a:spcBef>
                <a:spcPct val="0"/>
              </a:spcBef>
              <a:spcAft>
                <a:spcPct val="0"/>
              </a:spcAft>
              <a:buNone/>
            </a:pPr>
            <a:r>
              <a:rPr lang="en-US" dirty="0"/>
              <a:t>   efficient and accurate approach for yoga pose recognition.</a:t>
            </a:r>
            <a:endParaRPr kumimoji="0" lang="en-US" altLang="en-US"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00000"/>
              </a:lnSpc>
              <a:spcBef>
                <a:spcPct val="0"/>
              </a:spcBef>
              <a:spcAft>
                <a:spcPct val="0"/>
              </a:spcAft>
            </a:pPr>
            <a:r>
              <a:rPr lang="en-US" dirty="0"/>
              <a:t>Pose classification with high accuracy + a proposed (conceptual) correction</a:t>
            </a:r>
          </a:p>
          <a:p>
            <a:pPr marL="0" lvl="0" indent="0" eaLnBrk="0" fontAlgn="base" hangingPunct="0">
              <a:lnSpc>
                <a:spcPct val="100000"/>
              </a:lnSpc>
              <a:spcBef>
                <a:spcPct val="0"/>
              </a:spcBef>
              <a:spcAft>
                <a:spcPct val="0"/>
              </a:spcAft>
              <a:buNone/>
            </a:pPr>
            <a:r>
              <a:rPr lang="en-US" dirty="0"/>
              <a:t>   methodology</a:t>
            </a:r>
          </a:p>
        </p:txBody>
      </p:sp>
    </p:spTree>
    <p:extLst>
      <p:ext uri="{BB962C8B-B14F-4D97-AF65-F5344CB8AC3E}">
        <p14:creationId xmlns:p14="http://schemas.microsoft.com/office/powerpoint/2010/main" val="698031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MOTIVATION</a:t>
            </a:r>
            <a:endParaRPr lang="en-US" sz="12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3519B3A-F281-48CB-834E-59017A58047F}" type="slidenum">
              <a:rPr lang="en-IN" smtClean="0"/>
              <a:t>3</a:t>
            </a:fld>
            <a:endParaRPr lang="en-IN"/>
          </a:p>
        </p:txBody>
      </p:sp>
      <p:sp>
        <p:nvSpPr>
          <p:cNvPr id="12"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3"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0" name="Picture 9"/>
          <p:cNvPicPr>
            <a:picLocks noChangeAspect="1"/>
          </p:cNvPicPr>
          <p:nvPr/>
        </p:nvPicPr>
        <p:blipFill>
          <a:blip r:embed="rId3"/>
          <a:stretch>
            <a:fillRect/>
          </a:stretch>
        </p:blipFill>
        <p:spPr>
          <a:xfrm>
            <a:off x="11373315" y="6120614"/>
            <a:ext cx="785350" cy="706046"/>
          </a:xfrm>
          <a:prstGeom prst="rect">
            <a:avLst/>
          </a:prstGeom>
        </p:spPr>
      </p:pic>
      <p:sp>
        <p:nvSpPr>
          <p:cNvPr id="2" name="Content Placeholder 1">
            <a:extLst>
              <a:ext uri="{FF2B5EF4-FFF2-40B4-BE49-F238E27FC236}">
                <a16:creationId xmlns:a16="http://schemas.microsoft.com/office/drawing/2014/main" id="{72D3DFA3-98E3-7A7F-90C4-BC258FF4CA5A}"/>
              </a:ext>
            </a:extLst>
          </p:cNvPr>
          <p:cNvSpPr>
            <a:spLocks noGrp="1" noChangeArrowheads="1"/>
          </p:cNvSpPr>
          <p:nvPr>
            <p:ph idx="1"/>
          </p:nvPr>
        </p:nvSpPr>
        <p:spPr bwMode="auto">
          <a:xfrm>
            <a:off x="838200" y="2231581"/>
            <a:ext cx="1132072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There is a need to identify </a:t>
            </a:r>
            <a:r>
              <a:rPr kumimoji="0" lang="en-US" altLang="en-US" b="1" i="0" u="none" strike="noStrike" cap="none" normalizeH="0" baseline="0" dirty="0">
                <a:ln>
                  <a:noFill/>
                </a:ln>
                <a:solidFill>
                  <a:schemeClr val="tx1"/>
                </a:solidFill>
                <a:effectLst/>
                <a:latin typeface="Arial" panose="020B0604020202020204" pitchFamily="34" charset="0"/>
              </a:rPr>
              <a:t>accurate and computationally efficient</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pose classification methods suitable for real-time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Comparing </a:t>
            </a:r>
            <a:r>
              <a:rPr kumimoji="0" lang="en-US" altLang="en-US" b="1" i="0" u="none" strike="noStrike" cap="none" normalizeH="0" baseline="0" dirty="0">
                <a:ln>
                  <a:noFill/>
                </a:ln>
                <a:solidFill>
                  <a:schemeClr val="tx1"/>
                </a:solidFill>
                <a:effectLst/>
                <a:latin typeface="Arial" panose="020B0604020202020204" pitchFamily="34" charset="0"/>
              </a:rPr>
              <a:t>classical machine learning</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deep learning</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approaches helps understand the trade-off between accuracy and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deployment feasibility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This work is motivated to achieve </a:t>
            </a:r>
            <a:r>
              <a:rPr kumimoji="0" lang="en-US" altLang="en-US" b="1" i="0" u="none" strike="noStrike" cap="none" normalizeH="0" baseline="0" dirty="0">
                <a:ln>
                  <a:noFill/>
                </a:ln>
                <a:solidFill>
                  <a:schemeClr val="tx1"/>
                </a:solidFill>
                <a:effectLst/>
                <a:latin typeface="Arial" panose="020B0604020202020204" pitchFamily="34" charset="0"/>
              </a:rPr>
              <a:t>reliable yoga pose classification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and to </a:t>
            </a:r>
            <a:r>
              <a:rPr kumimoji="0" lang="en-US" altLang="en-US" b="1" i="0" u="none" strike="noStrike" cap="none" normalizeH="0" baseline="0" dirty="0">
                <a:ln>
                  <a:noFill/>
                </a:ln>
                <a:solidFill>
                  <a:schemeClr val="tx1"/>
                </a:solidFill>
                <a:effectLst/>
                <a:latin typeface="Arial" panose="020B0604020202020204" pitchFamily="34" charset="0"/>
              </a:rPr>
              <a:t>propose a posture assessment methodology</a:t>
            </a:r>
            <a:r>
              <a:rPr kumimoji="0" lang="en-US" altLang="en-US" b="0" i="0" u="none" strike="noStrike" cap="none" normalizeH="0" baseline="0" dirty="0">
                <a:ln>
                  <a:noFill/>
                </a:ln>
                <a:solidFill>
                  <a:schemeClr val="tx1"/>
                </a:solidFill>
                <a:effectLst/>
                <a:latin typeface="Arial" panose="020B0604020202020204" pitchFamily="34" charset="0"/>
              </a:rPr>
              <a:t> for future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exploration</a:t>
            </a:r>
          </a:p>
        </p:txBody>
      </p:sp>
    </p:spTree>
    <p:extLst>
      <p:ext uri="{BB962C8B-B14F-4D97-AF65-F5344CB8AC3E}">
        <p14:creationId xmlns:p14="http://schemas.microsoft.com/office/powerpoint/2010/main" val="427661283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RELATED WORKS</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3519B3A-F281-48CB-834E-59017A58047F}" type="slidenum">
              <a:rPr lang="en-IN" smtClean="0"/>
              <a:t>4</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2"/>
          <a:stretch>
            <a:fillRect/>
          </a:stretch>
        </p:blipFill>
        <p:spPr>
          <a:xfrm>
            <a:off x="11373315" y="6120614"/>
            <a:ext cx="785350" cy="706046"/>
          </a:xfrm>
          <a:prstGeom prst="rect">
            <a:avLst/>
          </a:prstGeom>
        </p:spPr>
      </p:pic>
      <p:sp>
        <p:nvSpPr>
          <p:cNvPr id="2" name="Content Placeholder 1">
            <a:extLst>
              <a:ext uri="{FF2B5EF4-FFF2-40B4-BE49-F238E27FC236}">
                <a16:creationId xmlns:a16="http://schemas.microsoft.com/office/drawing/2014/main" id="{95AC37C0-AFF4-379E-21AF-71792E3CF548}"/>
              </a:ext>
            </a:extLst>
          </p:cNvPr>
          <p:cNvSpPr>
            <a:spLocks noGrp="1" noChangeArrowheads="1"/>
          </p:cNvSpPr>
          <p:nvPr>
            <p:ph idx="1"/>
          </p:nvPr>
        </p:nvSpPr>
        <p:spPr bwMode="auto">
          <a:xfrm>
            <a:off x="1135732" y="1860036"/>
            <a:ext cx="992053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Deep learning models such as CNNs and LSTMs have been widely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used for yoga pose classification</a:t>
            </a:r>
          </a:p>
          <a:p>
            <a:pPr eaLnBrk="0" fontAlgn="base" hangingPunct="0">
              <a:lnSpc>
                <a:spcPct val="100000"/>
              </a:lnSpc>
              <a:spcBef>
                <a:spcPct val="0"/>
              </a:spcBef>
              <a:spcAft>
                <a:spcPct val="0"/>
              </a:spcAft>
            </a:pPr>
            <a:r>
              <a:rPr lang="en-US" sz="2400" dirty="0"/>
              <a:t>Pose estimation frameworks like </a:t>
            </a:r>
            <a:r>
              <a:rPr lang="en-US" sz="2400" dirty="0" err="1"/>
              <a:t>OpenPose</a:t>
            </a:r>
            <a:r>
              <a:rPr lang="en-US" sz="2400" dirty="0"/>
              <a:t> and </a:t>
            </a:r>
            <a:r>
              <a:rPr lang="en-US" sz="2400" dirty="0" err="1"/>
              <a:t>AlphaPose</a:t>
            </a:r>
            <a:r>
              <a:rPr lang="en-US" sz="2400" dirty="0"/>
              <a:t> achieve high </a:t>
            </a:r>
          </a:p>
          <a:p>
            <a:pPr marL="0" lvl="0" indent="0" eaLnBrk="0" fontAlgn="base" hangingPunct="0">
              <a:lnSpc>
                <a:spcPct val="100000"/>
              </a:lnSpc>
              <a:spcBef>
                <a:spcPct val="0"/>
              </a:spcBef>
              <a:spcAft>
                <a:spcPct val="0"/>
              </a:spcAft>
              <a:buNone/>
            </a:pPr>
            <a:r>
              <a:rPr lang="en-US" sz="2400" dirty="0"/>
              <a:t>  accuracy but require significant computational resources</a:t>
            </a:r>
          </a:p>
          <a:p>
            <a:pPr marL="0" lvl="0" indent="0" eaLnBrk="0" fontAlgn="base" hangingPunct="0">
              <a:lnSpc>
                <a:spcPct val="100000"/>
              </a:lnSpc>
              <a:spcBef>
                <a:spcPct val="0"/>
              </a:spcBef>
              <a:spcAft>
                <a:spcPct val="0"/>
              </a:spcAft>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MediaPipe</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BlazePose</a:t>
            </a:r>
            <a:r>
              <a:rPr kumimoji="0" lang="en-US" altLang="en-US" sz="2400" b="0" i="0" u="none" strike="noStrike" cap="none" normalizeH="0" baseline="0" dirty="0">
                <a:ln>
                  <a:noFill/>
                </a:ln>
                <a:solidFill>
                  <a:schemeClr val="tx1"/>
                </a:solidFill>
                <a:effectLst/>
                <a:latin typeface="Arial" panose="020B0604020202020204" pitchFamily="34" charset="0"/>
              </a:rPr>
              <a:t> a lightweight solution for real-time extraction of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33 body landmarks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Joint-angle based representations have been explored for pose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analysis, offering improved interpretability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Most existing studies focus primarily on pose classification, with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limited comparative analysis across different classification approaches</a:t>
            </a:r>
          </a:p>
        </p:txBody>
      </p:sp>
    </p:spTree>
    <p:extLst>
      <p:ext uri="{BB962C8B-B14F-4D97-AF65-F5344CB8AC3E}">
        <p14:creationId xmlns:p14="http://schemas.microsoft.com/office/powerpoint/2010/main" val="3978781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PROPOSED METHOD</a:t>
            </a:r>
            <a:endParaRPr lang="en-US" sz="12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p:txBody>
          <a:bodyPr>
            <a:normAutofit fontScale="77500" lnSpcReduction="20000"/>
          </a:bodyPr>
          <a:lstStyle/>
          <a:p>
            <a:r>
              <a:rPr lang="en-US" dirty="0"/>
              <a:t>Input yoga images or video frames are processed using </a:t>
            </a:r>
            <a:r>
              <a:rPr lang="en-US" b="1" dirty="0" err="1"/>
              <a:t>MediaPipe</a:t>
            </a:r>
            <a:r>
              <a:rPr lang="en-US" b="1" dirty="0"/>
              <a:t> </a:t>
            </a:r>
            <a:r>
              <a:rPr lang="en-US" b="1" dirty="0" err="1"/>
              <a:t>BlazePose</a:t>
            </a:r>
            <a:r>
              <a:rPr lang="en-US" dirty="0"/>
              <a:t> to extract 33 body landmarks</a:t>
            </a:r>
          </a:p>
          <a:p>
            <a:r>
              <a:rPr lang="en-US" dirty="0"/>
              <a:t>Landmark coordinates are normalized to reduce variations due to scale, camera distance, and orientation</a:t>
            </a:r>
          </a:p>
          <a:p>
            <a:r>
              <a:rPr lang="en-US" dirty="0"/>
              <a:t>Key </a:t>
            </a:r>
            <a:r>
              <a:rPr lang="en-US" b="1" dirty="0"/>
              <a:t>joint angles</a:t>
            </a:r>
            <a:r>
              <a:rPr lang="en-US" dirty="0"/>
              <a:t> are computed from selected landmark triplets to represent pose geometry</a:t>
            </a:r>
          </a:p>
          <a:p>
            <a:r>
              <a:rPr lang="en-US" dirty="0"/>
              <a:t>Multiple </a:t>
            </a:r>
            <a:r>
              <a:rPr lang="en-US" b="1" dirty="0"/>
              <a:t>classification models</a:t>
            </a:r>
            <a:r>
              <a:rPr lang="en-US" dirty="0"/>
              <a:t> are trained using these features:</a:t>
            </a:r>
          </a:p>
          <a:p>
            <a:pPr lvl="1"/>
            <a:r>
              <a:rPr lang="en-US" dirty="0"/>
              <a:t>Logistic Regression</a:t>
            </a:r>
          </a:p>
          <a:p>
            <a:pPr lvl="1"/>
            <a:r>
              <a:rPr lang="en-US" dirty="0"/>
              <a:t>Random Forest</a:t>
            </a:r>
          </a:p>
          <a:p>
            <a:pPr lvl="1"/>
            <a:r>
              <a:rPr lang="en-US" dirty="0" err="1"/>
              <a:t>XGBoost</a:t>
            </a:r>
            <a:endParaRPr lang="en-US" dirty="0"/>
          </a:p>
          <a:p>
            <a:r>
              <a:rPr lang="en-US" dirty="0"/>
              <a:t>A deep learning baseline (</a:t>
            </a:r>
            <a:r>
              <a:rPr lang="en-US" b="1" dirty="0"/>
              <a:t>ResNet50</a:t>
            </a:r>
            <a:r>
              <a:rPr lang="en-US" dirty="0"/>
              <a:t>) is fine-tuned using raw images for performance comparison</a:t>
            </a:r>
          </a:p>
          <a:p>
            <a:r>
              <a:rPr lang="en-US" dirty="0"/>
              <a:t>A </a:t>
            </a:r>
            <a:r>
              <a:rPr lang="en-US" b="1" dirty="0"/>
              <a:t>posture assessment methodology</a:t>
            </a:r>
            <a:r>
              <a:rPr lang="en-US" dirty="0"/>
              <a:t> based on joint-angle comparison is proposed as a future extension</a:t>
            </a:r>
          </a:p>
          <a:p>
            <a:endParaRPr lang="en-US" dirty="0"/>
          </a:p>
        </p:txBody>
      </p:sp>
      <p:sp>
        <p:nvSpPr>
          <p:cNvPr id="4" name="Slide Number Placeholder 3"/>
          <p:cNvSpPr>
            <a:spLocks noGrp="1"/>
          </p:cNvSpPr>
          <p:nvPr>
            <p:ph type="sldNum" sz="quarter" idx="12"/>
          </p:nvPr>
        </p:nvSpPr>
        <p:spPr/>
        <p:txBody>
          <a:bodyPr/>
          <a:lstStyle/>
          <a:p>
            <a:fld id="{43519B3A-F281-48CB-834E-59017A58047F}" type="slidenum">
              <a:rPr lang="en-IN" smtClean="0"/>
              <a:t>5</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2"/>
          <a:stretch>
            <a:fillRect/>
          </a:stretch>
        </p:blipFill>
        <p:spPr>
          <a:xfrm>
            <a:off x="11373315" y="6120614"/>
            <a:ext cx="785350" cy="706046"/>
          </a:xfrm>
          <a:prstGeom prst="rect">
            <a:avLst/>
          </a:prstGeom>
        </p:spPr>
      </p:pic>
    </p:spTree>
    <p:extLst>
      <p:ext uri="{BB962C8B-B14F-4D97-AF65-F5344CB8AC3E}">
        <p14:creationId xmlns:p14="http://schemas.microsoft.com/office/powerpoint/2010/main" val="3575505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EXPERIMENTAL SETUP</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3519B3A-F281-48CB-834E-59017A58047F}" type="slidenum">
              <a:rPr lang="en-IN" smtClean="0"/>
              <a:t>6</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2"/>
          <a:stretch>
            <a:fillRect/>
          </a:stretch>
        </p:blipFill>
        <p:spPr>
          <a:xfrm>
            <a:off x="11373315" y="6120614"/>
            <a:ext cx="785350" cy="706046"/>
          </a:xfrm>
          <a:prstGeom prst="rect">
            <a:avLst/>
          </a:prstGeom>
        </p:spPr>
      </p:pic>
      <p:sp>
        <p:nvSpPr>
          <p:cNvPr id="2" name="Content Placeholder 1">
            <a:extLst>
              <a:ext uri="{FF2B5EF4-FFF2-40B4-BE49-F238E27FC236}">
                <a16:creationId xmlns:a16="http://schemas.microsoft.com/office/drawing/2014/main" id="{63FA7537-55BE-77B3-9B7C-8F044B68EFD7}"/>
              </a:ext>
            </a:extLst>
          </p:cNvPr>
          <p:cNvSpPr>
            <a:spLocks noGrp="1" noChangeArrowheads="1"/>
          </p:cNvSpPr>
          <p:nvPr>
            <p:ph idx="1"/>
          </p:nvPr>
        </p:nvSpPr>
        <p:spPr bwMode="auto">
          <a:xfrm>
            <a:off x="1559890" y="1538101"/>
            <a:ext cx="932992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Dataset: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Yoga-82 dataset consisting of 79 yoga pose classes with diverse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backgrounds and viewpoints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Split:</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Subject-wise partitioning to ensure test samples are unseen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during training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Preprocessing: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Pose landmarks extracted using </a:t>
            </a:r>
            <a:r>
              <a:rPr kumimoji="0" lang="en-US" altLang="en-US" sz="2000" b="0" i="0" u="none" strike="noStrike" cap="none" normalizeH="0" baseline="0" dirty="0" err="1">
                <a:ln>
                  <a:noFill/>
                </a:ln>
                <a:solidFill>
                  <a:schemeClr val="tx1"/>
                </a:solidFill>
                <a:effectLst/>
                <a:latin typeface="Arial" panose="020B0604020202020204" pitchFamily="34" charset="0"/>
              </a:rPr>
              <a:t>MediaPipe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BlazePose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Landmark coordinates normalized to reduce scale and camera variations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Feature Representation: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9 joint angles computed from normalized landmarks for classical ML models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Raw RGB images used for the ResNet50 baseline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Evaluation Metrics:</a:t>
            </a:r>
            <a:r>
              <a:rPr kumimoji="0" lang="en-US" altLang="en-US" sz="2400" b="0" i="0" u="none" strike="noStrike" cap="none" normalizeH="0" baseline="0" dirty="0">
                <a:ln>
                  <a:noFill/>
                </a:ln>
                <a:solidFill>
                  <a:schemeClr val="tx1"/>
                </a:solidFill>
                <a:effectLst/>
                <a:latin typeface="Arial" panose="020B0604020202020204" pitchFamily="34" charset="0"/>
              </a:rPr>
              <a:t> Classification accuracy and macro F1-score</a:t>
            </a:r>
          </a:p>
        </p:txBody>
      </p:sp>
    </p:spTree>
    <p:extLst>
      <p:ext uri="{BB962C8B-B14F-4D97-AF65-F5344CB8AC3E}">
        <p14:creationId xmlns:p14="http://schemas.microsoft.com/office/powerpoint/2010/main" val="929225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RESULTS</a:t>
            </a:r>
          </a:p>
        </p:txBody>
      </p:sp>
      <p:graphicFrame>
        <p:nvGraphicFramePr>
          <p:cNvPr id="2" name="Content Placeholder 1">
            <a:extLst>
              <a:ext uri="{FF2B5EF4-FFF2-40B4-BE49-F238E27FC236}">
                <a16:creationId xmlns:a16="http://schemas.microsoft.com/office/drawing/2014/main" id="{9A1C9F34-981A-EF08-E89E-5947CC1631D3}"/>
              </a:ext>
            </a:extLst>
          </p:cNvPr>
          <p:cNvGraphicFramePr>
            <a:graphicFrameLocks noGrp="1"/>
          </p:cNvGraphicFramePr>
          <p:nvPr>
            <p:ph idx="1"/>
            <p:extLst>
              <p:ext uri="{D42A27DB-BD31-4B8C-83A1-F6EECF244321}">
                <p14:modId xmlns:p14="http://schemas.microsoft.com/office/powerpoint/2010/main" val="2013712203"/>
              </p:ext>
            </p:extLst>
          </p:nvPr>
        </p:nvGraphicFramePr>
        <p:xfrm>
          <a:off x="909159" y="4173970"/>
          <a:ext cx="4827638" cy="2006318"/>
        </p:xfrm>
        <a:graphic>
          <a:graphicData uri="http://schemas.openxmlformats.org/drawingml/2006/table">
            <a:tbl>
              <a:tblPr firstRow="1" bandRow="1">
                <a:tableStyleId>{5C22544A-7EE6-4342-B048-85BDC9FD1C3A}</a:tableStyleId>
              </a:tblPr>
              <a:tblGrid>
                <a:gridCol w="3255682">
                  <a:extLst>
                    <a:ext uri="{9D8B030D-6E8A-4147-A177-3AD203B41FA5}">
                      <a16:colId xmlns:a16="http://schemas.microsoft.com/office/drawing/2014/main" val="1605688760"/>
                    </a:ext>
                  </a:extLst>
                </a:gridCol>
                <a:gridCol w="1571956">
                  <a:extLst>
                    <a:ext uri="{9D8B030D-6E8A-4147-A177-3AD203B41FA5}">
                      <a16:colId xmlns:a16="http://schemas.microsoft.com/office/drawing/2014/main" val="931457946"/>
                    </a:ext>
                  </a:extLst>
                </a:gridCol>
              </a:tblGrid>
              <a:tr h="352895">
                <a:tc>
                  <a:txBody>
                    <a:bodyPr/>
                    <a:lstStyle/>
                    <a:p>
                      <a:r>
                        <a:rPr lang="en-IN" dirty="0"/>
                        <a:t>Model</a:t>
                      </a:r>
                    </a:p>
                  </a:txBody>
                  <a:tcPr/>
                </a:tc>
                <a:tc>
                  <a:txBody>
                    <a:bodyPr/>
                    <a:lstStyle/>
                    <a:p>
                      <a:r>
                        <a:rPr lang="en-IN" dirty="0"/>
                        <a:t>Accuracy</a:t>
                      </a:r>
                    </a:p>
                  </a:txBody>
                  <a:tcPr/>
                </a:tc>
                <a:extLst>
                  <a:ext uri="{0D108BD9-81ED-4DB2-BD59-A6C34878D82A}">
                    <a16:rowId xmlns:a16="http://schemas.microsoft.com/office/drawing/2014/main" val="4157293565"/>
                  </a:ext>
                </a:extLst>
              </a:tr>
              <a:tr h="352895">
                <a:tc>
                  <a:txBody>
                    <a:bodyPr/>
                    <a:lstStyle/>
                    <a:p>
                      <a:r>
                        <a:rPr lang="en-IN" dirty="0"/>
                        <a:t>Logistic Regression</a:t>
                      </a:r>
                    </a:p>
                  </a:txBody>
                  <a:tcPr/>
                </a:tc>
                <a:tc>
                  <a:txBody>
                    <a:bodyPr/>
                    <a:lstStyle/>
                    <a:p>
                      <a:r>
                        <a:rPr lang="en-IN" dirty="0"/>
                        <a:t>0.48</a:t>
                      </a:r>
                    </a:p>
                  </a:txBody>
                  <a:tcPr/>
                </a:tc>
                <a:extLst>
                  <a:ext uri="{0D108BD9-81ED-4DB2-BD59-A6C34878D82A}">
                    <a16:rowId xmlns:a16="http://schemas.microsoft.com/office/drawing/2014/main" val="60070091"/>
                  </a:ext>
                </a:extLst>
              </a:tr>
              <a:tr h="352895">
                <a:tc>
                  <a:txBody>
                    <a:bodyPr/>
                    <a:lstStyle/>
                    <a:p>
                      <a:r>
                        <a:rPr lang="en-IN" b="1" dirty="0"/>
                        <a:t>RandomForest</a:t>
                      </a:r>
                      <a:r>
                        <a:rPr lang="en-IN" dirty="0"/>
                        <a:t> </a:t>
                      </a:r>
                    </a:p>
                  </a:txBody>
                  <a:tcPr/>
                </a:tc>
                <a:tc>
                  <a:txBody>
                    <a:bodyPr/>
                    <a:lstStyle/>
                    <a:p>
                      <a:r>
                        <a:rPr lang="en-IN" b="1" dirty="0"/>
                        <a:t>0.72</a:t>
                      </a:r>
                    </a:p>
                  </a:txBody>
                  <a:tcPr/>
                </a:tc>
                <a:extLst>
                  <a:ext uri="{0D108BD9-81ED-4DB2-BD59-A6C34878D82A}">
                    <a16:rowId xmlns:a16="http://schemas.microsoft.com/office/drawing/2014/main" val="1480508696"/>
                  </a:ext>
                </a:extLst>
              </a:tr>
              <a:tr h="352895">
                <a:tc>
                  <a:txBody>
                    <a:bodyPr/>
                    <a:lstStyle/>
                    <a:p>
                      <a:r>
                        <a:rPr lang="en-IN" dirty="0"/>
                        <a:t>XGBoost</a:t>
                      </a:r>
                    </a:p>
                  </a:txBody>
                  <a:tcPr/>
                </a:tc>
                <a:tc>
                  <a:txBody>
                    <a:bodyPr/>
                    <a:lstStyle/>
                    <a:p>
                      <a:r>
                        <a:rPr lang="en-IN" dirty="0"/>
                        <a:t>0.69</a:t>
                      </a:r>
                    </a:p>
                  </a:txBody>
                  <a:tcPr/>
                </a:tc>
                <a:extLst>
                  <a:ext uri="{0D108BD9-81ED-4DB2-BD59-A6C34878D82A}">
                    <a16:rowId xmlns:a16="http://schemas.microsoft.com/office/drawing/2014/main" val="28467056"/>
                  </a:ext>
                </a:extLst>
              </a:tr>
              <a:tr h="543278">
                <a:tc>
                  <a:txBody>
                    <a:bodyPr/>
                    <a:lstStyle/>
                    <a:p>
                      <a:r>
                        <a:rPr lang="en-IN" b="1" dirty="0"/>
                        <a:t>ResNet50 (fine-tuned)</a:t>
                      </a:r>
                    </a:p>
                  </a:txBody>
                  <a:tcPr/>
                </a:tc>
                <a:tc>
                  <a:txBody>
                    <a:bodyPr/>
                    <a:lstStyle/>
                    <a:p>
                      <a:r>
                        <a:rPr lang="en-IN" b="1" dirty="0"/>
                        <a:t>0.85</a:t>
                      </a:r>
                    </a:p>
                  </a:txBody>
                  <a:tcPr/>
                </a:tc>
                <a:extLst>
                  <a:ext uri="{0D108BD9-81ED-4DB2-BD59-A6C34878D82A}">
                    <a16:rowId xmlns:a16="http://schemas.microsoft.com/office/drawing/2014/main" val="3868601629"/>
                  </a:ext>
                </a:extLst>
              </a:tr>
            </a:tbl>
          </a:graphicData>
        </a:graphic>
      </p:graphicFrame>
      <p:sp>
        <p:nvSpPr>
          <p:cNvPr id="4" name="Slide Number Placeholder 3"/>
          <p:cNvSpPr>
            <a:spLocks noGrp="1"/>
          </p:cNvSpPr>
          <p:nvPr>
            <p:ph type="sldNum" sz="quarter" idx="12"/>
          </p:nvPr>
        </p:nvSpPr>
        <p:spPr/>
        <p:txBody>
          <a:bodyPr/>
          <a:lstStyle/>
          <a:p>
            <a:fld id="{43519B3A-F281-48CB-834E-59017A58047F}" type="slidenum">
              <a:rPr lang="en-IN" smtClean="0"/>
              <a:t>7</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2"/>
          <a:stretch>
            <a:fillRect/>
          </a:stretch>
        </p:blipFill>
        <p:spPr>
          <a:xfrm>
            <a:off x="11373315" y="6120614"/>
            <a:ext cx="785350" cy="706046"/>
          </a:xfrm>
          <a:prstGeom prst="rect">
            <a:avLst/>
          </a:prstGeom>
        </p:spPr>
      </p:pic>
      <p:sp>
        <p:nvSpPr>
          <p:cNvPr id="5" name="Rectangle 1">
            <a:extLst>
              <a:ext uri="{FF2B5EF4-FFF2-40B4-BE49-F238E27FC236}">
                <a16:creationId xmlns:a16="http://schemas.microsoft.com/office/drawing/2014/main" id="{72D2BBB6-A895-18FC-BBA5-469E4F2E3487}"/>
              </a:ext>
            </a:extLst>
          </p:cNvPr>
          <p:cNvSpPr>
            <a:spLocks noChangeArrowheads="1"/>
          </p:cNvSpPr>
          <p:nvPr/>
        </p:nvSpPr>
        <p:spPr bwMode="auto">
          <a:xfrm rot="10800000" flipV="1">
            <a:off x="838200" y="1619424"/>
            <a:ext cx="992993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Multiple classification models were evaluated using the same dataset and experimental setup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Angle-based classical machine learning models</a:t>
            </a:r>
            <a:r>
              <a:rPr kumimoji="0" lang="en-US" altLang="en-US" sz="2000" b="0" i="0" u="none" strike="noStrike" cap="none" normalizeH="0" baseline="0" dirty="0">
                <a:ln>
                  <a:noFill/>
                </a:ln>
                <a:solidFill>
                  <a:schemeClr val="tx1"/>
                </a:solidFill>
                <a:effectLst/>
                <a:latin typeface="Arial" panose="020B0604020202020204" pitchFamily="34" charset="0"/>
              </a:rPr>
              <a:t> showed stable and efficient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Random Forest</a:t>
            </a:r>
            <a:r>
              <a:rPr kumimoji="0" lang="en-US" altLang="en-US" sz="2000" b="0" i="0" u="none" strike="noStrike" cap="none" normalizeH="0" baseline="0" dirty="0">
                <a:ln>
                  <a:noFill/>
                </a:ln>
                <a:solidFill>
                  <a:schemeClr val="tx1"/>
                </a:solidFill>
                <a:effectLst/>
                <a:latin typeface="Arial" panose="020B0604020202020204" pitchFamily="34" charset="0"/>
              </a:rPr>
              <a:t> achieved the best performance among classical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ResNet50 (fine-tuned)</a:t>
            </a:r>
            <a:r>
              <a:rPr kumimoji="0" lang="en-US" altLang="en-US" sz="2000" b="0" i="0" u="none" strike="noStrike" cap="none" normalizeH="0" baseline="0" dirty="0">
                <a:ln>
                  <a:noFill/>
                </a:ln>
                <a:solidFill>
                  <a:schemeClr val="tx1"/>
                </a:solidFill>
                <a:effectLst/>
                <a:latin typeface="Arial" panose="020B0604020202020204" pitchFamily="34" charset="0"/>
              </a:rPr>
              <a:t> achieved the highest overall classification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Results highlight a clear </a:t>
            </a:r>
            <a:r>
              <a:rPr kumimoji="0" lang="en-US" altLang="en-US" sz="2000" b="1" i="0" u="none" strike="noStrike" cap="none" normalizeH="0" baseline="0" dirty="0">
                <a:ln>
                  <a:noFill/>
                </a:ln>
                <a:solidFill>
                  <a:schemeClr val="tx1"/>
                </a:solidFill>
                <a:effectLst/>
                <a:latin typeface="Arial" panose="020B0604020202020204" pitchFamily="34" charset="0"/>
              </a:rPr>
              <a:t>trade-off between accuracy and computational complexity</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06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CONCLUSION</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3519B3A-F281-48CB-834E-59017A58047F}" type="slidenum">
              <a:rPr lang="en-IN" smtClean="0"/>
              <a:t>8</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2"/>
          <a:stretch>
            <a:fillRect/>
          </a:stretch>
        </p:blipFill>
        <p:spPr>
          <a:xfrm>
            <a:off x="11373315" y="6120614"/>
            <a:ext cx="785350" cy="706046"/>
          </a:xfrm>
          <a:prstGeom prst="rect">
            <a:avLst/>
          </a:prstGeom>
        </p:spPr>
      </p:pic>
      <p:sp>
        <p:nvSpPr>
          <p:cNvPr id="2" name="Content Placeholder 1">
            <a:extLst>
              <a:ext uri="{FF2B5EF4-FFF2-40B4-BE49-F238E27FC236}">
                <a16:creationId xmlns:a16="http://schemas.microsoft.com/office/drawing/2014/main" id="{151F466B-7685-ADE3-055A-FF13057FE12C}"/>
              </a:ext>
            </a:extLst>
          </p:cNvPr>
          <p:cNvSpPr>
            <a:spLocks noGrp="1" noChangeArrowheads="1"/>
          </p:cNvSpPr>
          <p:nvPr>
            <p:ph idx="1"/>
          </p:nvPr>
        </p:nvSpPr>
        <p:spPr bwMode="auto">
          <a:xfrm>
            <a:off x="678659" y="2082487"/>
            <a:ext cx="1108733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This work presents a comparative study of </a:t>
            </a:r>
            <a:r>
              <a:rPr kumimoji="0" lang="en-US" altLang="en-US" sz="2400" b="1" i="0" u="none" strike="noStrike" cap="none" normalizeH="0" baseline="0" dirty="0">
                <a:ln>
                  <a:noFill/>
                </a:ln>
                <a:solidFill>
                  <a:schemeClr val="tx1"/>
                </a:solidFill>
                <a:effectLst/>
                <a:latin typeface="Arial" panose="020B0604020202020204" pitchFamily="34" charset="0"/>
              </a:rPr>
              <a:t>classical machine learning</a:t>
            </a:r>
            <a:r>
              <a:rPr kumimoji="0" lang="en-US" altLang="en-US" sz="2400" b="0" i="0" u="none" strike="noStrike" cap="none" normalizeH="0" baseline="0" dirty="0">
                <a:ln>
                  <a:noFill/>
                </a:ln>
                <a:solidFill>
                  <a:schemeClr val="tx1"/>
                </a:solidFill>
                <a:effectLst/>
                <a:latin typeface="Arial" panose="020B0604020202020204" pitchFamily="34" charset="0"/>
              </a:rPr>
              <a:t> and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deep learning</a:t>
            </a:r>
            <a:r>
              <a:rPr kumimoji="0" lang="en-US" altLang="en-US" sz="2400" b="0" i="0" u="none" strike="noStrike" cap="none" normalizeH="0" baseline="0" dirty="0">
                <a:ln>
                  <a:noFill/>
                </a:ln>
                <a:solidFill>
                  <a:schemeClr val="tx1"/>
                </a:solidFill>
                <a:effectLst/>
                <a:latin typeface="Arial" panose="020B0604020202020204" pitchFamily="34" charset="0"/>
              </a:rPr>
              <a:t> approaches for yoga pose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Angle-based models provide </a:t>
            </a:r>
            <a:r>
              <a:rPr kumimoji="0" lang="en-US" altLang="en-US" sz="2400" b="1" i="0" u="none" strike="noStrike" cap="none" normalizeH="0" baseline="0" dirty="0">
                <a:ln>
                  <a:noFill/>
                </a:ln>
                <a:solidFill>
                  <a:schemeClr val="tx1"/>
                </a:solidFill>
                <a:effectLst/>
                <a:latin typeface="Arial" panose="020B0604020202020204" pitchFamily="34" charset="0"/>
              </a:rPr>
              <a:t>efficient and interpretable</a:t>
            </a:r>
            <a:r>
              <a:rPr kumimoji="0" lang="en-US" altLang="en-US" sz="2400" b="0" i="0" u="none" strike="noStrike" cap="none" normalizeH="0" baseline="0" dirty="0">
                <a:ln>
                  <a:noFill/>
                </a:ln>
                <a:solidFill>
                  <a:schemeClr val="tx1"/>
                </a:solidFill>
                <a:effectLst/>
                <a:latin typeface="Arial" panose="020B0604020202020204" pitchFamily="34" charset="0"/>
              </a:rPr>
              <a:t> pose representation,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while deep learning achieves higher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Experimental results show that </a:t>
            </a:r>
            <a:r>
              <a:rPr kumimoji="0" lang="en-US" altLang="en-US" sz="2400" b="1" i="0" u="none" strike="noStrike" cap="none" normalizeH="0" baseline="0" dirty="0">
                <a:ln>
                  <a:noFill/>
                </a:ln>
                <a:solidFill>
                  <a:schemeClr val="tx1"/>
                </a:solidFill>
                <a:effectLst/>
                <a:latin typeface="Arial" panose="020B0604020202020204" pitchFamily="34" charset="0"/>
              </a:rPr>
              <a:t>ResNet50</a:t>
            </a:r>
            <a:r>
              <a:rPr kumimoji="0" lang="en-US" altLang="en-US" sz="2400" b="0" i="0" u="none" strike="noStrike" cap="none" normalizeH="0" baseline="0" dirty="0">
                <a:ln>
                  <a:noFill/>
                </a:ln>
                <a:solidFill>
                  <a:schemeClr val="tx1"/>
                </a:solidFill>
                <a:effectLst/>
                <a:latin typeface="Arial" panose="020B0604020202020204" pitchFamily="34" charset="0"/>
              </a:rPr>
              <a:t> attains the highest classification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accuracy, whereas </a:t>
            </a:r>
            <a:r>
              <a:rPr kumimoji="0" lang="en-US" altLang="en-US" sz="2400" b="1" i="0" u="none" strike="noStrike" cap="none" normalizeH="0" baseline="0" dirty="0">
                <a:ln>
                  <a:noFill/>
                </a:ln>
                <a:solidFill>
                  <a:schemeClr val="tx1"/>
                </a:solidFill>
                <a:effectLst/>
                <a:latin typeface="Arial" panose="020B0604020202020204" pitchFamily="34" charset="0"/>
              </a:rPr>
              <a:t>Random Forest</a:t>
            </a:r>
            <a:r>
              <a:rPr kumimoji="0" lang="en-US" altLang="en-US" sz="2400" b="0" i="0" u="none" strike="noStrike" cap="none" normalizeH="0" baseline="0" dirty="0">
                <a:ln>
                  <a:noFill/>
                </a:ln>
                <a:solidFill>
                  <a:schemeClr val="tx1"/>
                </a:solidFill>
                <a:effectLst/>
                <a:latin typeface="Arial" panose="020B0604020202020204" pitchFamily="34" charset="0"/>
              </a:rPr>
              <a:t> offers a lightweight alternative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 </a:t>
            </a:r>
            <a:r>
              <a:rPr kumimoji="0" lang="en-US" altLang="en-US" sz="2400" b="1" i="0" u="none" strike="noStrike" cap="none" normalizeH="0" baseline="0" dirty="0">
                <a:ln>
                  <a:noFill/>
                </a:ln>
                <a:solidFill>
                  <a:schemeClr val="tx1"/>
                </a:solidFill>
                <a:effectLst/>
                <a:latin typeface="Arial" panose="020B0604020202020204" pitchFamily="34" charset="0"/>
              </a:rPr>
              <a:t>posture assessment methodology</a:t>
            </a:r>
            <a:r>
              <a:rPr kumimoji="0" lang="en-US" altLang="en-US" sz="2400" b="0" i="0" u="none" strike="noStrike" cap="none" normalizeH="0" baseline="0" dirty="0">
                <a:ln>
                  <a:noFill/>
                </a:ln>
                <a:solidFill>
                  <a:schemeClr val="tx1"/>
                </a:solidFill>
                <a:effectLst/>
                <a:latin typeface="Arial" panose="020B0604020202020204" pitchFamily="34" charset="0"/>
              </a:rPr>
              <a:t> is proposed as a future extension and is</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not experimentally validated in this study</a:t>
            </a:r>
          </a:p>
        </p:txBody>
      </p:sp>
    </p:spTree>
    <p:extLst>
      <p:ext uri="{BB962C8B-B14F-4D97-AF65-F5344CB8AC3E}">
        <p14:creationId xmlns:p14="http://schemas.microsoft.com/office/powerpoint/2010/main" val="412450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REFERENCES</a:t>
            </a:r>
            <a:endParaRPr lang="en-US" sz="12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p:txBody>
          <a:bodyPr>
            <a:normAutofit lnSpcReduction="10000"/>
          </a:bodyPr>
          <a:lstStyle/>
          <a:p>
            <a:r>
              <a:rPr lang="en-IN" dirty="0"/>
              <a:t>V. </a:t>
            </a:r>
            <a:r>
              <a:rPr lang="en-IN" dirty="0" err="1"/>
              <a:t>Bazarevsky</a:t>
            </a:r>
            <a:r>
              <a:rPr lang="en-IN" dirty="0"/>
              <a:t> et al., </a:t>
            </a:r>
            <a:r>
              <a:rPr lang="en-IN" i="1" dirty="0" err="1"/>
              <a:t>BlazePose</a:t>
            </a:r>
            <a:r>
              <a:rPr lang="en-IN" i="1" dirty="0"/>
              <a:t>: On-device Real-time Body Pose Tracking</a:t>
            </a:r>
            <a:r>
              <a:rPr lang="en-IN" dirty="0"/>
              <a:t>, Google Research, 2020</a:t>
            </a:r>
          </a:p>
          <a:p>
            <a:r>
              <a:rPr lang="en-IN" dirty="0"/>
              <a:t>Verma M. et al., </a:t>
            </a:r>
            <a:r>
              <a:rPr lang="en-IN" i="1" dirty="0"/>
              <a:t>Yoga-82: A Dataset for Fine-grained Classification of Human Poses</a:t>
            </a:r>
            <a:r>
              <a:rPr lang="en-IN" dirty="0"/>
              <a:t>, CVPR Workshops, 2020</a:t>
            </a:r>
          </a:p>
          <a:p>
            <a:r>
              <a:rPr lang="en-IN" dirty="0"/>
              <a:t>Richa Sharma et al., </a:t>
            </a:r>
            <a:r>
              <a:rPr lang="en-IN" i="1" dirty="0" err="1"/>
              <a:t>DeepYoga</a:t>
            </a:r>
            <a:r>
              <a:rPr lang="en-IN" i="1" dirty="0"/>
              <a:t>: Real-Time Yoga Pose Recognition System</a:t>
            </a:r>
            <a:r>
              <a:rPr lang="en-IN" dirty="0"/>
              <a:t>, Eng. Tech. Appl. Sci. Res., 2024</a:t>
            </a:r>
          </a:p>
          <a:p>
            <a:r>
              <a:rPr lang="en-IN" dirty="0"/>
              <a:t>Kishore D. M. et al., </a:t>
            </a:r>
            <a:r>
              <a:rPr lang="en-IN" i="1" dirty="0"/>
              <a:t>Estimation of Yoga Postures Using Machine Learning Techniques</a:t>
            </a:r>
            <a:r>
              <a:rPr lang="en-IN" dirty="0"/>
              <a:t>, Int. Journal of Yoga, 2022</a:t>
            </a:r>
          </a:p>
          <a:p>
            <a:r>
              <a:rPr lang="en-IN" dirty="0" err="1"/>
              <a:t>Chamola</a:t>
            </a:r>
            <a:r>
              <a:rPr lang="en-IN" dirty="0"/>
              <a:t> V. et al., </a:t>
            </a:r>
            <a:r>
              <a:rPr lang="en-IN" i="1" dirty="0"/>
              <a:t>Advancements in Yoga Pose Estimation Using AI: A Survey</a:t>
            </a:r>
            <a:r>
              <a:rPr lang="en-IN" dirty="0"/>
              <a:t>, Current Bioinformatics, 2024</a:t>
            </a:r>
          </a:p>
          <a:p>
            <a:endParaRPr lang="en-US" dirty="0"/>
          </a:p>
        </p:txBody>
      </p:sp>
      <p:sp>
        <p:nvSpPr>
          <p:cNvPr id="4" name="Slide Number Placeholder 3"/>
          <p:cNvSpPr>
            <a:spLocks noGrp="1"/>
          </p:cNvSpPr>
          <p:nvPr>
            <p:ph type="sldNum" sz="quarter" idx="12"/>
          </p:nvPr>
        </p:nvSpPr>
        <p:spPr/>
        <p:txBody>
          <a:bodyPr/>
          <a:lstStyle/>
          <a:p>
            <a:fld id="{43519B3A-F281-48CB-834E-59017A58047F}" type="slidenum">
              <a:rPr lang="en-IN" smtClean="0"/>
              <a:t>9</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2"/>
          <a:stretch>
            <a:fillRect/>
          </a:stretch>
        </p:blipFill>
        <p:spPr>
          <a:xfrm>
            <a:off x="11373315" y="6120614"/>
            <a:ext cx="785350" cy="706046"/>
          </a:xfrm>
          <a:prstGeom prst="rect">
            <a:avLst/>
          </a:prstGeom>
        </p:spPr>
      </p:pic>
    </p:spTree>
    <p:extLst>
      <p:ext uri="{BB962C8B-B14F-4D97-AF65-F5344CB8AC3E}">
        <p14:creationId xmlns:p14="http://schemas.microsoft.com/office/powerpoint/2010/main" val="679783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RESPONSE TO REVIEW COMMENTS</a:t>
            </a:r>
            <a:endParaRPr lang="en-US" sz="12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p:txBody>
          <a:bodyPr>
            <a:normAutofit fontScale="70000" lnSpcReduction="20000"/>
          </a:bodyPr>
          <a:lstStyle/>
          <a:p>
            <a:pPr marL="0" indent="0">
              <a:buNone/>
            </a:pPr>
            <a:r>
              <a:rPr lang="en-US" dirty="0"/>
              <a:t>Comment #1: Abstract and conclusion should not be in different 			  		          paragraphs.</a:t>
            </a:r>
            <a:br>
              <a:rPr lang="en-US" dirty="0"/>
            </a:br>
            <a:r>
              <a:rPr lang="en-US" dirty="0"/>
              <a:t>	          Conclusion should reflect the authors’ work and not be presented as existing or 		          referenced work.</a:t>
            </a:r>
          </a:p>
          <a:p>
            <a:r>
              <a:rPr lang="en-US" dirty="0"/>
              <a:t>The abstract and conclusion have been revised to ensure structural consistency. </a:t>
            </a:r>
          </a:p>
          <a:p>
            <a:r>
              <a:rPr lang="en-US" dirty="0"/>
              <a:t>The conclusion is now presented as a single, cohesive section clearly summarizing the contributions and findings of the authors’ work, without referencing it as existing or prior work.</a:t>
            </a:r>
          </a:p>
          <a:p>
            <a:pPr marL="0" indent="0">
              <a:buNone/>
            </a:pPr>
            <a:r>
              <a:rPr lang="en-US" dirty="0"/>
              <a:t>Comment #2:Major contradictions between text, tables, figures, and references.</a:t>
            </a:r>
            <a:br>
              <a:rPr lang="en-US" dirty="0"/>
            </a:br>
            <a:r>
              <a:rPr lang="en-US" dirty="0"/>
              <a:t>	        The paper mentions 9 calculated joint angles, but the landmark combinations used to 	        compute these angles are unclear.</a:t>
            </a:r>
            <a:br>
              <a:rPr lang="en-US" dirty="0"/>
            </a:br>
            <a:r>
              <a:rPr lang="en-US" dirty="0"/>
              <a:t>	        Verify and correct publication dates in references.</a:t>
            </a:r>
          </a:p>
          <a:p>
            <a:r>
              <a:rPr lang="en-US" dirty="0"/>
              <a:t>All identified inconsistencies between text, tables, and figures have been reviewed and corrected. </a:t>
            </a:r>
          </a:p>
          <a:p>
            <a:r>
              <a:rPr lang="en-US" dirty="0"/>
              <a:t>The methodology section has been updated to clearly specify the computation of joint angles. Additionally, all reference entries have been verified and corrected to ensure accurate publication years and citation details.</a:t>
            </a:r>
          </a:p>
        </p:txBody>
      </p:sp>
      <p:sp>
        <p:nvSpPr>
          <p:cNvPr id="4" name="Slide Number Placeholder 3"/>
          <p:cNvSpPr>
            <a:spLocks noGrp="1"/>
          </p:cNvSpPr>
          <p:nvPr>
            <p:ph type="sldNum" sz="quarter" idx="12"/>
          </p:nvPr>
        </p:nvSpPr>
        <p:spPr/>
        <p:txBody>
          <a:bodyPr/>
          <a:lstStyle/>
          <a:p>
            <a:fld id="{43519B3A-F281-48CB-834E-59017A58047F}" type="slidenum">
              <a:rPr lang="en-IN" smtClean="0"/>
              <a:t>10</a:t>
            </a:fld>
            <a:endParaRPr lang="en-IN"/>
          </a:p>
        </p:txBody>
      </p:sp>
      <p:sp>
        <p:nvSpPr>
          <p:cNvPr id="10" name="Date Placeholder 8"/>
          <p:cNvSpPr>
            <a:spLocks noGrp="1"/>
          </p:cNvSpPr>
          <p:nvPr>
            <p:ph type="dt" sz="half" idx="10"/>
          </p:nvPr>
        </p:nvSpPr>
        <p:spPr>
          <a:xfrm>
            <a:off x="838200" y="6356350"/>
            <a:ext cx="2743200" cy="365125"/>
          </a:xfrm>
        </p:spPr>
        <p:txBody>
          <a:bodyPr/>
          <a:lstStyle/>
          <a:p>
            <a:r>
              <a:rPr lang="en-IN" dirty="0"/>
              <a:t>12-13 Feb 2026</a:t>
            </a:r>
          </a:p>
        </p:txBody>
      </p:sp>
      <p:sp>
        <p:nvSpPr>
          <p:cNvPr id="11" name="Footer Placeholder 9"/>
          <p:cNvSpPr>
            <a:spLocks noGrp="1"/>
          </p:cNvSpPr>
          <p:nvPr>
            <p:ph type="ftr" sz="quarter" idx="11"/>
          </p:nvPr>
        </p:nvSpPr>
        <p:spPr>
          <a:xfrm>
            <a:off x="4038600" y="6356350"/>
            <a:ext cx="4114800" cy="365125"/>
          </a:xfrm>
        </p:spPr>
        <p:txBody>
          <a:bodyPr/>
          <a:lstStyle/>
          <a:p>
            <a:r>
              <a:rPr lang="en-IN" dirty="0"/>
              <a:t>ICCSC-2026</a:t>
            </a:r>
          </a:p>
        </p:txBody>
      </p:sp>
      <p:pic>
        <p:nvPicPr>
          <p:cNvPr id="12" name="Picture 11"/>
          <p:cNvPicPr>
            <a:picLocks noChangeAspect="1"/>
          </p:cNvPicPr>
          <p:nvPr/>
        </p:nvPicPr>
        <p:blipFill>
          <a:blip r:embed="rId3"/>
          <a:stretch>
            <a:fillRect/>
          </a:stretch>
        </p:blipFill>
        <p:spPr>
          <a:xfrm>
            <a:off x="11373315" y="6120614"/>
            <a:ext cx="785350" cy="706046"/>
          </a:xfrm>
          <a:prstGeom prst="rect">
            <a:avLst/>
          </a:prstGeom>
        </p:spPr>
      </p:pic>
    </p:spTree>
    <p:extLst>
      <p:ext uri="{BB962C8B-B14F-4D97-AF65-F5344CB8AC3E}">
        <p14:creationId xmlns:p14="http://schemas.microsoft.com/office/powerpoint/2010/main" val="2947615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842</TotalTime>
  <Words>935</Words>
  <Application>Microsoft Office PowerPoint</Application>
  <PresentationFormat>Widescreen</PresentationFormat>
  <Paragraphs>126</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2nd International Conference on Computing,  Sciences &amp; Communications  (ICCSC – 2026)</vt:lpstr>
      <vt:lpstr>INTRODUCTION</vt:lpstr>
      <vt:lpstr>MOTIVATION</vt:lpstr>
      <vt:lpstr>RELATED WORKS</vt:lpstr>
      <vt:lpstr>PROPOSED METHOD</vt:lpstr>
      <vt:lpstr>EXPERIMENTAL SETUP</vt:lpstr>
      <vt:lpstr>RESULTS</vt:lpstr>
      <vt:lpstr>CONCLUSION</vt:lpstr>
      <vt:lpstr>REFERENCES</vt:lpstr>
      <vt:lpstr>RESPONSE TO REVIEW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Sushma Kakkar</dc:creator>
  <cp:lastModifiedBy>Harsh Sharawat</cp:lastModifiedBy>
  <cp:revision>18</cp:revision>
  <dcterms:created xsi:type="dcterms:W3CDTF">2024-08-12T05:23:13Z</dcterms:created>
  <dcterms:modified xsi:type="dcterms:W3CDTF">2026-02-12T15:54:09Z</dcterms:modified>
</cp:coreProperties>
</file>